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大家好，今天我们探讨一个即将深刻改变商业世界的话题——Agentic Commerce，也就是AI代理式商务。随着AI技术的飞速发展，我们正站在一个从人类主导交易到AI代理自主交易的历史性转折点上。本次分享将深入剖析这一变革的核心逻辑、对商业格局的重构，以及未来生态的演化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本次分享将分为七个部分。首先，我们会明确Agentic Commerce的定义及其技术背景。接着，深入分析交易逻辑从人到AI的三大本质变化。然后，探讨这一变革如何重构商业格局，包括流量、支付、品牌和货币形态。之后，我们将描绘未来商业生态的三层结构，并梳理关键的里程碑事件和未来的时间预测。最后，我们将聚焦于核心赢家PayPal的战略定位，并对未来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首先，让我们明确什么是Agentic Commerce。简单来说，它就是让AI智能体替我们完成整个购物和交易过程。这背后依赖于大语言模型、多智能体系统等先进技术，以及标准化的API和协议，使得AI能够自主、智能地进行商业活动。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在传统的商业世界里，交易是由人主导的。从发现商品到最终完成支付和履约，每一个环节都需要人的参与和决策。这个流程虽然成熟，但效率低下，且容易受到人为因素的影响。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与传统交易相比，AI交易的逻辑发生了根本性的变化。首先，交易主体从人变成了AI智能体，它们基于规则和数据进行理性决策。其次，决策逻辑从感性的个人偏好转向理性的效率和成本优化。最后，支付方式从手动操作变为基于预授权的自动清算，这对信任和账户体系提出了更高的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交易的逻辑下，我们主要关注三种核心模式：A2A、C2A和B2A。C2A是人指挥AI，用户只需一句话，AI就能完成代查、代买等全流程操作，极大提升了用户体验，是重构入口的关键。B2A是企业服务AI，企业通过开放API让自身服务成为AI可调用的资源，这相当于AI时代的“电商平台”，掌握供给侧的接入能力至关重要。最后是A2A，即AI之间互相买卖服务，这是实现全自动化商业生态的底层，也是未来市场经济的重要组成部分。这三种模式共同构成了AI商业的完整图景，各自拥有巨大的赛道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为了实现AI交易的标准化和规模化，行业内正在积极制定各种协议标准，其中最具代表性的包括AP2、ACP和UCP。这三者共同构成了Agentic Commerce的全栈标准：UCP作为全域商品目录标准，解决了“AI能看见商品”的问题；ACP作为对话内交易支付标准，解决了“AI能下单”的问题；而AP2作为代理授权支付标准，则解决了“AI能安全付钱”的问题。从UCP到ACP再到AP2，形成了一个完整的闭环，对于规范AI交易行为、保障交易安全、促进生态合作具有重要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I时代，传统的流量逻辑将逐渐失效。过去，商家通过各种手段获取用户注意力，但现在，AI智能体在选择交易对象时，更看重的是对方的可信度和安全性。因此，建立强大的信任体系将成为未来商业竞争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在Agentic Commerce时代，评价体系将发生根本性变化。传统的人为评价和感觉将被可验证、可审计的机器可读信用所取代。我们需要从商家、AI智能体和用户三个维度建立全新的评价标准，通过标准化数据、不可篡改的账本和平台担保来确保信息的准确性。这套体系将直接影响AI的决策逻辑，信用将成为唯一有效的交易标准。而具备全球合规和风控能力的平台，如PayPal，将成为这一体系的裁判，确保交易的公平和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支付方式也将发生巨大变化。传统的通道型支付，如Apple Pay和Google Pay，主要是为了方便人类用户点击支付。但在AI交易中，这些功能变得不再重要。相反，能够提供全链路交易处理的交易中台将成为主流，它们能够满足AI对自动化和智能化的需求。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品牌的影响力也将被重新定义。在人类交易中，品牌是重要的决策因素。但对于AI智能体来说，它们无法理解品牌的情感价值，只会根据客观的信用数据来做决策。因此，建立一个机器可读的信用体系将变得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货币形态也将发生变化。传统法币在跨境结算和小额高频交易中存在诸多不便。而稳定币，作为一种与法币挂钩的加密货币，具有实时清算、低成本和价格稳定等优势，非常适合AI之间的交易，有望成为AI时代的原生货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以上分析，我们可以预见未来的商业生态将呈现出三层结构。顶层是AI入口和决策层，如Google、OpenAI等，它们负责理解用户需求并做出决策。底层是商家和供应链，提供商品和服务。而连接这两者的核心，就是中层的AI交易基础设施层，它们提供标准化的交易协议和信任保障，是整个生态的心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回顾Agentic Commerce的发展历程，我们可以看到几个关键的里程碑。从PayPal发行稳定币，到推出Financial OS战略，再到与OpenAI和Google的合作，以及收购Cymbio，每一步都标志着AI代理商务的不断成熟和完善。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展望未来，我们预测在未来几年内，Agentic Commerce将经历几个重要的发展阶段。从协议的普及到稳定币的广泛应用，再到信任体系的成熟和生态格局的形成，最终在2030年左右实现全面商业化，成为主流的商业交易模式。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场变革中，PayPal凭借其独特的信任基因、全球合规网络、稳定币和AI交易基础设施，占据了核心地位。它不仅是规则的制定者，更是信任的裁判、清算的中心和稳定币的发行方，这些优势使其成为AI交易时代不可替代的核心玩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总结来说，Agentic Commerce不仅是技术的变革，更是商业逻辑的重构。我们正站在一个新的商业纪元的门槛上，AI将成为商业活动的主要参与者。未来的商业竞争将不再仅仅是产品和服务的竞争，更是AI交易能力和基础设施的竞争。让我们一起迎接这个充满机遇和挑战的AI商业新纪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notesSlides/notesSlide2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notesSlides/notesSlide3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media/image77.png" Type="http://schemas.openxmlformats.org/officeDocument/2006/relationships/image"/><Relationship Id="rId15" Target="../media/image78.svg" Type="http://schemas.openxmlformats.org/officeDocument/2006/relationships/image"/><Relationship Id="rId16" Target="../notesSlides/notesSlide9.xml" Type="http://schemas.openxmlformats.org/officeDocument/2006/relationships/notesSlid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sv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notesSlides/notesSlide10.xml" Type="http://schemas.openxmlformats.org/officeDocument/2006/relationships/notesSlide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svg" Type="http://schemas.openxmlformats.org/officeDocument/2006/relationships/image"/><Relationship Id="rId12" Target="../media/image101.png" Type="http://schemas.openxmlformats.org/officeDocument/2006/relationships/image"/><Relationship Id="rId13" Target="../media/image102.svg" Type="http://schemas.openxmlformats.org/officeDocument/2006/relationships/image"/><Relationship Id="rId14" Target="../notesSlides/notesSlide11.xml" Type="http://schemas.openxmlformats.org/officeDocument/2006/relationships/notesSlide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97.png" Type="http://schemas.openxmlformats.org/officeDocument/2006/relationships/image"/><Relationship Id="rId9" Target="../media/image9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svg" Type="http://schemas.openxmlformats.org/officeDocument/2006/relationships/image"/><Relationship Id="rId12" Target="../media/image111.png" Type="http://schemas.openxmlformats.org/officeDocument/2006/relationships/image"/><Relationship Id="rId13" Target="../media/image112.svg" Type="http://schemas.openxmlformats.org/officeDocument/2006/relationships/image"/><Relationship Id="rId14" Target="../media/image113.png" Type="http://schemas.openxmlformats.org/officeDocument/2006/relationships/image"/><Relationship Id="rId15" Target="../media/image114.svg" Type="http://schemas.openxmlformats.org/officeDocument/2006/relationships/image"/><Relationship Id="rId16" Target="../media/image115.png" Type="http://schemas.openxmlformats.org/officeDocument/2006/relationships/image"/><Relationship Id="rId17" Target="../media/image116.svg" Type="http://schemas.openxmlformats.org/officeDocument/2006/relationships/image"/><Relationship Id="rId18" Target="../media/image117.png" Type="http://schemas.openxmlformats.org/officeDocument/2006/relationships/image"/><Relationship Id="rId19" Target="../media/image118.svg" Type="http://schemas.openxmlformats.org/officeDocument/2006/relationships/image"/><Relationship Id="rId2" Target="../media/image31.png" Type="http://schemas.openxmlformats.org/officeDocument/2006/relationships/image"/><Relationship Id="rId20" Target="../notesSlides/notesSlide12.xml" Type="http://schemas.openxmlformats.org/officeDocument/2006/relationships/notesSlide"/><Relationship Id="rId3" Target="../media/image3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notesSlides/notesSlide14.xml" Type="http://schemas.openxmlformats.org/officeDocument/2006/relationships/notesSlide"/><Relationship Id="rId2" Target="../media/image123.png" Type="http://schemas.openxmlformats.org/officeDocument/2006/relationships/image"/><Relationship Id="rId3" Target="../media/image124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notesSlides/notesSlide15.xml" Type="http://schemas.openxmlformats.org/officeDocument/2006/relationships/notesSlide"/><Relationship Id="rId2" Target="../media/image127.png" Type="http://schemas.openxmlformats.org/officeDocument/2006/relationships/image"/><Relationship Id="rId3" Target="../media/image128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129.png" Type="http://schemas.openxmlformats.org/officeDocument/2006/relationships/image"/><Relationship Id="rId7" Target="../media/image130.svg" Type="http://schemas.openxmlformats.org/officeDocument/2006/relationships/image"/><Relationship Id="rId8" Target="../media/image131.png" Type="http://schemas.openxmlformats.org/officeDocument/2006/relationships/image"/><Relationship Id="rId9" Target="../media/image13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svg" Type="http://schemas.openxmlformats.org/officeDocument/2006/relationships/image"/><Relationship Id="rId12" Target="../media/image135.png" Type="http://schemas.openxmlformats.org/officeDocument/2006/relationships/image"/><Relationship Id="rId13" Target="../media/image136.svg" Type="http://schemas.openxmlformats.org/officeDocument/2006/relationships/image"/><Relationship Id="rId14" Target="../media/image137.png" Type="http://schemas.openxmlformats.org/officeDocument/2006/relationships/image"/><Relationship Id="rId15" Target="../media/image138.svg" Type="http://schemas.openxmlformats.org/officeDocument/2006/relationships/image"/><Relationship Id="rId16" Target="../media/image139.png" Type="http://schemas.openxmlformats.org/officeDocument/2006/relationships/image"/><Relationship Id="rId17" Target="../media/image140.svg" Type="http://schemas.openxmlformats.org/officeDocument/2006/relationships/image"/><Relationship Id="rId18" Target="../notesSlides/notesSlide16.xml" Type="http://schemas.openxmlformats.org/officeDocument/2006/relationships/notesSlid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123.png" Type="http://schemas.openxmlformats.org/officeDocument/2006/relationships/image"/><Relationship Id="rId7" Target="../media/image124.svg" Type="http://schemas.openxmlformats.org/officeDocument/2006/relationships/image"/><Relationship Id="rId8" Target="../media/image133.png" Type="http://schemas.openxmlformats.org/officeDocument/2006/relationships/image"/><Relationship Id="rId9" Target="../media/image13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3.png" Type="http://schemas.openxmlformats.org/officeDocument/2006/relationships/image"/><Relationship Id="rId11" Target="../media/image144.svg" Type="http://schemas.openxmlformats.org/officeDocument/2006/relationships/image"/><Relationship Id="rId12" Target="../media/image145.png" Type="http://schemas.openxmlformats.org/officeDocument/2006/relationships/image"/><Relationship Id="rId13" Target="../media/image146.svg" Type="http://schemas.openxmlformats.org/officeDocument/2006/relationships/image"/><Relationship Id="rId14" Target="../notesSlides/notesSlide17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41.png" Type="http://schemas.openxmlformats.org/officeDocument/2006/relationships/image"/><Relationship Id="rId7" Target="../media/image142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7.png" Type="http://schemas.openxmlformats.org/officeDocument/2006/relationships/image"/><Relationship Id="rId3" Target="../media/image148.svg" Type="http://schemas.openxmlformats.org/officeDocument/2006/relationships/image"/><Relationship Id="rId4" Target="../notesSlides/notesSlide18.xml" Type="http://schemas.openxmlformats.org/officeDocument/2006/relationships/notesSlide"/><Relationship Id="rId5" Target="../media/image1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90000"/>
                </a:srgbClr>
              </a:gs>
              <a:gs pos="100000">
                <a:srgbClr val="0A192F">
                  <a:alpha val="8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Agentic Commerce时代：AI重构商业格局与生态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23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从人类交易到AI代理交易的颠覆性变革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43600" y="533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826000" y="571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Future of AI Business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95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01 背景与定义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什么是Agentic Commerce？技术背景与核心概念解析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90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095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2095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02 交易逻辑颠覆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47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从人到AI的三大本质变化，重塑商业交互模式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905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095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63000" y="2095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03 商业格局重构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47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流量、支付、品牌与货币形态的全面变革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4925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3683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04 未来生态结构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064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新商业世界的三层结构与角色分工解析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34925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35500" y="3683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43500" y="3683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05 关键里程碑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35500" y="4064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变革的时间表预测与关键节点分析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34925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255000" y="3683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63000" y="3683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06 核心赢家分析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55000" y="4064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PayPal的战略定位与不可替代性研究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080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524000" y="5270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总结与展望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651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迎接AI商业新纪元，把握未来机遇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背景与定义：什么是 Agentic Commerce？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879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Agentic Commerce 是指由 AI 智能体代表用户或企业，自主完成从发现、决策、支付到履约的全链路商业交易。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276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核心特征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7084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自主性：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无需人类干预，独立完成交易流程。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40894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智能性：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基于算法和数据，进行智能决策和优化。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4704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协作性：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多智能体协同工作，共同完成复杂任务。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5054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技术基石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461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依托大语言模型 (LLMs)、多智能体系统 (MAS) 及标准化 API 协议构建。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000000">
              <a:alpha val="2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传统交易逻辑：人主导的商业闭环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333500" y="2286000"/>
            <a:ext cx="762000" cy="76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175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发现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6195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用户通过广告、搜索、社交媒体等渠道主动发现商品。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8575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29000" y="22860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984500" y="3175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决策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36195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对比价格、评价与品牌，依赖主观判断做出购买决策。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953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22860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080000" y="3175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支付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0" y="36195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手动操作支付工具（如信用卡、APP）完成资金转移。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485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0" y="2286000"/>
            <a:ext cx="762000" cy="762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75500" y="3175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履约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36195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商家根据订单信息，人工安排物流发货或提供服务。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715500" y="22860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271000" y="3175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反馈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71000" y="36195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用户收到商品后，手动进行评价，形成口碑闭环。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4092" flipH="false" flipV="false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AI交易逻辑：三大本质变化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交易主体：人 → AI智能体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情绪化、易受影响、决策缓慢，依赖主观感觉。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基于规则和数据，理性决策，高效执行，讲协议。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461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FC10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核心差异：感性直觉 vs 理性协议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决策逻辑：感性 → 理性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2921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关注品牌、价格、外观及个人偏好，买“喜欢”。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关注规则、效率、成本与履约率，买“最优”。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5461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FC10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核心差异：主观偏好 vs 最优解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90000" y="2286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支付方式：主动 → 自动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5626" flipH="false" flipV="false">
            <a:off x="8382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382000" y="2921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手动操作支付工具，流程繁琐，追求“方便”。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AI模式：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基于预授权自动清算，依赖信任、账户与担保。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5461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FC107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核心差异：手动操作 vs 自动授权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AI交易的三种核心模式：A2A, C2A, B2A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508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A2A AI间互买服务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5" flipH="false" flipV="false">
            <a:off x="1016014" y="2914650"/>
            <a:ext cx="27940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一个AI为完成任务，自动调用、购买另一个AI的服务，全程无人参与。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旅行AI自动调用机票/酒店AI；办公AI购买设计/文案AI服务。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080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AI世界的市场经济底层，构建自动交易生态，PayPal的终极战场。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524000"/>
            <a:ext cx="3302000" cy="508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778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C2A 人指挥AI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5625" flipH="false" flipV="false">
            <a:off x="4699014" y="2914650"/>
            <a:ext cx="27940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99000" y="3048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用户下达需求，AI代查、代买、代办、代预约、代支付，一句话完成全流程。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064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“帮我买明天去上海最便宜的机票+酒店”、“帮我续话费”。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5080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替代App和网站，重构入口，提供极致用户体验，释放时间价值。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524000"/>
            <a:ext cx="3302000" cy="508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778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382000" y="247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B2A 企业服务AI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625" flipH="false" flipV="false">
            <a:off x="8382014" y="2914650"/>
            <a:ext cx="27940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3048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企业把商品/服务/API开放给AI，让AI能直接调用、购买，成为可交易资源。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4064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航司开放机票接口、超市开放库存接口、物流公司开放上门取件服务。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5080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AI时代的“电商平台”，谁掌握供给（让企业一键接入），谁就掌握未来。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AI交易协议标准：AP2, ACP, UCP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06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AP2 授权支付协议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203200" cy="203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641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由PayPal和Google联合推出，基于MCP构建的AI交易授权层。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149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使用加密的“Mandates”授权令牌，确保交易安全与可追溯。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3657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已成为行业重要标准，解决了AI代付的信任与问责问题。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07000" y="2006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ACP 智能商务协议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5626" flipH="false" flipV="false">
            <a:off x="4699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6670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53000" y="2641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PayPal推出，ChatGPT官方唯一支付协议，实现对话内一键结账。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99000" y="31750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953000" y="3149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集成完整的支付、风控和账户体系，提供端到端交易解决方案。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699000" y="36830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53000" y="3657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已落地应用，抢占AI支付入口，带来巨大流量与交易机会。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90000" y="20066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UCP 通用商务协议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5626" flipH="false" flipV="false">
            <a:off x="8382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2667000"/>
            <a:ext cx="203200" cy="203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636000" y="2641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Google推出的通用协议，旨在统一AI购物标准，支持多平台接入。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31750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636000" y="3149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开放的协议框架，允许不同服务商接入，实现互联互通。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0" y="3683000"/>
            <a:ext cx="203200" cy="2032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636000" y="36576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处于发展初期，有望成为行业通用标准，推动规模化发展。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969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总结：UCP（看见） → ACP（下单） → AP2（付钱），共同构成Agentic Commerce全栈标准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商业格局重构：流量逻辑失效，信任逻辑称王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057400"/>
            <a:ext cx="393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传统逻辑：流量为王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2584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2794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76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争夺用户注意力，通过曝光赢得市场份额。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66800" y="3429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403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主要手段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广告投放、社交媒体营销、SEO优化。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66800" y="40640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403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面临挑战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流量成本高企，用户注意力分散，转化率持续下降。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778000"/>
            <a:ext cx="5080000" cy="508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54800" y="2082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62800" y="2057400"/>
            <a:ext cx="393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AI时代：信任为王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766" flipH="false" flipV="false">
            <a:off x="6654809" y="2584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54800" y="2794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276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提供可信交易环境与担保机制，赢得AI智能体的选择。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54800" y="3429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3403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关键举措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建立可靠信用体系、提供安全支付保障、制定透明规则。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54800" y="4064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85000" y="40386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终极关键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信任成为AI交易的唯一入场券，决定商业存亡。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Agentic Commerce的评价体系：机器可读信用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752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核心原则与评价维度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基于可验证、可审计、可追溯的「机器可读信用」，取代传统人为评价。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8956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评价B：商家/服务商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33500" y="32004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指标：履约成功率、发货时效、退款率、赔付能力、风控历史。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37211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评价A：AI智能体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33500" y="40259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指标：授权执行情况、合规性、是否恶意操作、可追溯性。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5466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评价C：用户角色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33500" y="48514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角色：设定授权范围、支付上限、偏好规则，不直接参与评价。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1752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信息机制与决策影响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64770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39116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信息获取机制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94500" y="42164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通过UCP协议获取标准化数据，基于不可篡改账本确保真实性，平台提供担保。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77000" y="48260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94500" y="48006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决策逻辑与裁判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794500" y="5105400"/>
            <a:ext cx="438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信用达标即自动交易，否则拒绝。刷榜失效，由具备全球合规能力的平台（如PayPal）担任裁判。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商业格局重构：通道型支付边缘化，交易中台崛起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通道型支付 (Apple/Google Pay)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41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核心功能：简化操作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2946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仅提供支付通道，聚焦于简化人类用户的点击支付流程。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530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局限性：缺乏全链路能力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835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在AI交易场景中，“简化操作”需求消失，缺乏订单管理、库存同步等核心处理能力，难以满足自动化需求。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1879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交易中台 (PayPal等)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406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667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641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核心功能：全链路服务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0" y="2946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提供订单管理、库存同步、发票处理、退款服务、跨境结算及纠纷处理等一体化服务。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5560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3530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核心优势：AI交易基础设施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0" y="38354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完美契合AI对自动化、智能化和安全性的高要求，成为未来商业交易的核心枢纽。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B1730">
                <a:alpha val="100000"/>
              </a:srgbClr>
            </a:gs>
            <a:gs pos="100000">
              <a:srgbClr val="19375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商业格局重构：品牌影响力下降，机器可读信用崛起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006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传统品牌逻辑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692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核心：情感认知与忠诚度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3022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依赖广告营销建立品牌认知，通过情感连接培养用户忠诚度。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6449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挑战：AI无法感知情感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9751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AI智能体缺乏人类的情感体验，难以识别品牌溢价，仅关注客观数据指标。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48500" y="2006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机器可读信用体系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730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692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核心：客观数据与履约能力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0" y="3022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基于履约率、合规记录、赔付能力及评分体系建立可量化的信用模型。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36449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优势：AI决策的最优解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0" y="39751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AI可快速评估多维数据，自动筛选高信用商家，实现高效、理性的决策。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商业格局重构：货币形态改变，稳定币成为AI原生货币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006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传统法币的局限性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2470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730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692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跨境结算慢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60500" y="29972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国际转账通常需要几天时间，资金占用周期长。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5179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手续费高昂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460500" y="38227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尤其是小额和高频交易，中间环节费用损耗大。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4343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汇率波动风险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60500" y="46482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跨国交易中汇率波动不可控，增加了交易不确定性。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2006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稳定币的核心优势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549" flipH="false" flipV="false">
            <a:off x="6604009" y="2470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2730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048500" y="2692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实时清算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48500" y="29972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交易秒级确认，资金即时到账。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3365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048500" y="3327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低成本运营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048500" y="36322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显著降低跨境交易费用，提升效率。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48500" y="3962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价格稳定性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048500" y="42672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锚定法币价值，有效规避汇率波动风险。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604000" y="4635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048500" y="4597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智能可编程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048500" y="49022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支持智能合约，实现AI间自动化交易。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未来生态的三层结构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587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顶层：AI入口与决策层 (Google, OpenAI, 微软)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1968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角色：理解用户需求、智能决策与推荐。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核心能力：强大的AI模型、海量数据、用户入口。短板：缺乏支付账户与合规能力。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C107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3302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中层：AI交易基础设施层 (如PayPal)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3683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角色：生态的心脏，提供标准化交易协议、账户体系、信任担保与全球合规。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核心能力：支付技术、风控体系、稳定币清算，连接顶层与底层。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5016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底层：商家与供应链层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5397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角色：提供商品、服务、库存和履约能力。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核心能力：产品研发、生产制造、物流配送。变化：从主动营销转向被动接受AI智能体调度。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关键里程碑：Agentic Commerce的发展历程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2023年8月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发行PYUSD稳定币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奠定AI交易的货币基础，打通数字资产流通渠道。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165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2025年4月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355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35500" y="2540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发布Financial OS战略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推出Agentic Toolkit和MCP服务器，正式布局AI代理商务。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778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36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2025年10月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946" flipH="false" flipV="false">
            <a:off x="82550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55000" y="2540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巨头合作与标准制定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与OpenAI达成独家合作，成为ChatGPT官方钱包；与Google合作推出AP2协议。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97000" y="4419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2026年1月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946" flipH="false" flipV="false">
            <a:off x="1016014" y="481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1016000" y="4953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收购Cymbio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补齐商品目录和履约能力，完善AI商务生态闭环。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419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35500" y="4445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016500" y="4419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2026年2月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4946" flipH="false" flipV="false">
            <a:off x="4635514" y="4819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635500" y="4953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试点AI自然语言购物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与英国Debenhams合作，探索下一代交互方式。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90000"/>
                </a:srgbClr>
              </a:gs>
              <a:gs pos="100000">
                <a:srgbClr val="0A192F">
                  <a:alpha val="8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时间预测：Agentic Commerce的未来发展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524000" cy="508000"/>
          </a:xfrm>
          <a:prstGeom prst="roundRect">
            <a:avLst>
              <a:gd name="adj" fmla="val 250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时间节点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413000" y="1905000"/>
            <a:ext cx="2286000" cy="508000"/>
          </a:xfrm>
          <a:prstGeom prst="roundRect">
            <a:avLst>
              <a:gd name="adj" fmla="val 250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905000"/>
            <a:ext cx="6477000" cy="508000"/>
          </a:xfrm>
          <a:prstGeom prst="roundRect">
            <a:avLst>
              <a:gd name="adj" fmla="val 250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详细预测描述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540000"/>
            <a:ext cx="10541000" cy="711200"/>
          </a:xfrm>
          <a:prstGeom prst="roundRect">
            <a:avLst>
              <a:gd name="adj" fmla="val 89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27432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2743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476500" y="27432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AI交易协议普及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89500" y="2743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AP2/ACP等协议成为行业标准，主流AI平台和支付机构开始接入。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352800"/>
            <a:ext cx="10541000" cy="711200"/>
          </a:xfrm>
          <a:prstGeom prst="roundRect">
            <a:avLst>
              <a:gd name="adj" fmla="val 89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3556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3556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2027年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476500" y="35560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稳定币广泛应用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35560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稳定币成为AI交易的主要结算方式，跨境支付效率大幅提升。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65600"/>
            <a:ext cx="10541000" cy="711200"/>
          </a:xfrm>
          <a:prstGeom prst="roundRect">
            <a:avLst>
              <a:gd name="adj" fmla="val 89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" y="43688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70000" y="43688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2028年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476500" y="43688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信任体系成熟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889500" y="43688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机器可读的信用体系得到广泛认可，成为AI交易的重要参考依据。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978400"/>
            <a:ext cx="10541000" cy="711200"/>
          </a:xfrm>
          <a:prstGeom prst="roundRect">
            <a:avLst>
              <a:gd name="adj" fmla="val 89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89000" y="51816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270000" y="51816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2029年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476500" y="51816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生态格局形成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89500" y="51816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三层生态结构稳定，AI交易基础设施层成为核心，市场集中度提高。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91200"/>
            <a:ext cx="10541000" cy="711200"/>
          </a:xfrm>
          <a:prstGeom prst="roundRect">
            <a:avLst>
              <a:gd name="adj" fmla="val 89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89000" y="59944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270000" y="59944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476500" y="59944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全面商业化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889500" y="59944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Agentic Commerce在各行业得到广泛应用，成为主流的商业交易模式。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核心赢家：PayPal的战略定位与不可替代性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核心竞争优势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291" flipH="false" flipV="false">
            <a:off x="1016009" y="2089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260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信任基因：稀缺的风控资源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565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25年积累的交易担保和风险控制能力，是AI交易最底层的信任基石。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086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全球合规网络：牌照壁垒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33909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覆盖200多个市场，拥有完善的支付牌照体系和反洗钱(AML)合规能力。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911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稳定币PYUSD：AI原生货币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97000" y="421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作为AI交易的原生货币，提供高效、透明的跨境结算能力。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737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AI交易基础设施：Agentic Toolkit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97000" y="50419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提供MCP服务器等工具，为AI智能体提供标准化的交互接口。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AI交易中的关键角色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6477009" y="2089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43561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规则制定者：参与制定AP2/ACP等行业协议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4762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94500" y="47371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信任裁判：提供交易担保和纠纷处理机制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77000" y="51435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794500" y="51181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中央清算：负责资金的清算、结算与安全保障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477000" y="5524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794500" y="54991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稳定币发行方：发行和管理PYUSD稳定币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95000"/>
                </a:srgbClr>
              </a:gs>
              <a:gs pos="100000">
                <a:srgbClr val="112240">
                  <a:alpha val="85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总结与展望：迎接AI商业新纪元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核心总结：商业逻辑重构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57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Agentic Commerce 将彻底改变商业交易的逻辑，从“人主导”转向“AI代理主导”。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未来的核心竞争力将不再仅仅是产品，而是建立在</a:t>
            </a:r>
            <a:r>
              <a:rPr lang="en-US" b="true" i="false" strike="noStrike" u="none" sz="14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信任、协议和基础设施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之上的AI交易能力。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286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31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未来展望：机遇与挑战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549" flipH="false" flipV="false">
            <a:off x="6350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2984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31000" y="294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AI成为主要参与者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推动效率与创新的大幅提升，重塑商业流程。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34925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3454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新商业生态形成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AI交易基础设施层将成为价值核心。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350000" y="4000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3962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重塑支付体系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稳定币将在AI交易中发挥关键作用。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350000" y="4508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31000" y="4470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积极布局变革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企业需快速适应，构建AI交易能力以应对未来竞争。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90000"/>
                </a:srgbClr>
              </a:gs>
              <a:gs pos="100000">
                <a:srgbClr val="003264">
                  <a:alpha val="85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286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5715053" y="3168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3429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4191000"/>
            <a:ext cx="406400" cy="40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